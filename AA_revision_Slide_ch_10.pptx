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63040"/>
            <a:ext cx="320040" cy="3931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411480"/>
            <a:ext cx="2286000" cy="50292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206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4A"/>
                </a:solidFill>
              </a:rPr>
              <a:t>ACCA  AA / AAA  EXAM REVISION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AUDIT PROCEDURES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5A623"/>
                </a:solidFill>
              </a:rPr>
              <a:t>&amp; EVIDENCE MASTER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0B4A6"/>
                </a:solidFill>
              </a:rPr>
              <a:t>Everything you need one day before the exam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977639"/>
            <a:ext cx="2011680" cy="347472"/>
          </a:xfrm>
          <a:prstGeom prst="rect">
            <a:avLst/>
          </a:prstGeom>
          <a:solidFill>
            <a:srgbClr val="2D3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1" y="40050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12 Topics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39" y="3977639"/>
            <a:ext cx="2011680" cy="347472"/>
          </a:xfrm>
          <a:prstGeom prst="rect">
            <a:avLst/>
          </a:prstGeom>
          <a:solidFill>
            <a:srgbClr val="2D3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07791" y="40050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Audit Reports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3977639"/>
            <a:ext cx="2011680" cy="347472"/>
          </a:xfrm>
          <a:prstGeom prst="rect">
            <a:avLst/>
          </a:prstGeom>
          <a:solidFill>
            <a:srgbClr val="2D3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02352" y="40050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KAM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59" y="3977639"/>
            <a:ext cx="2011680" cy="347472"/>
          </a:xfrm>
          <a:prstGeom prst="rect">
            <a:avLst/>
          </a:prstGeom>
          <a:solidFill>
            <a:srgbClr val="2D3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96912" y="40050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Going Concern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19" y="3977639"/>
            <a:ext cx="2011680" cy="347472"/>
          </a:xfrm>
          <a:prstGeom prst="rect">
            <a:avLst/>
          </a:prstGeom>
          <a:solidFill>
            <a:srgbClr val="2D3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91472" y="40050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Memory Tricks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5C80"/>
                </a:solidFill>
              </a:rPr>
              <a:t>Last-Day Revision  •  Exam-Scoring Guide  •  Answer-Writing Trainer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4A"/>
                </a:solidFill>
              </a:rPr>
              <a:t>THE GOLDEN FORMULA  —  Every Procedure Must Follow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566160" cy="137160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Inspect / Agree / Trace /
Recalculate / Compare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1417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2B52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914400"/>
            <a:ext cx="3566160" cy="137160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9875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SOURCE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13716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Purchase invoice / GDN /
Bank statement /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1417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2B52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914400"/>
            <a:ext cx="3566160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9327" y="9875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13716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What assertion is tested
and why it matters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06040"/>
            <a:ext cx="5303520" cy="137160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0" y="2606040"/>
            <a:ext cx="5760720" cy="1371600"/>
          </a:xfrm>
          <a:prstGeom prst="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2651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3A3A"/>
                </a:solidFill>
              </a:rPr>
              <a:t>❌  BAD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9992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2B52"/>
                </a:solidFill>
              </a:rPr>
              <a:t>"Check invoices."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337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3A3A"/>
                </a:solidFill>
              </a:rPr>
              <a:t>No source. No purpose. No assertion. = 0 marks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AA6C"/>
                </a:solidFill>
              </a:rPr>
              <a:t>✅  GOOD ANSWER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9718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2B52"/>
                </a:solidFill>
              </a:rPr>
              <a:t>"Inspect a sample of post year-end purchase invoices and
agree to GRNs to confirm goods received before year end
— testing COMPLETENESS of trade payables."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11247120" cy="566928"/>
          </a:xfrm>
          <a:prstGeom prst="rect">
            <a:avLst/>
          </a:prstGeom>
          <a:solidFill>
            <a:srgbClr val="2D3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160520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AUDIT VERBS:  Inspect  •  Agree  •  Trace  •  Recalculate  •  Compare  •  Discuss  •  Obtain  •  Review  •  Observe  •  Reperform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00600"/>
            <a:ext cx="11247120" cy="54864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52"/>
                </a:solidFill>
              </a:rPr>
              <a:t>⚡ EXAMINER TIP:  Read the answer back — would someone with no audit experience understand WHAT to do, HOW to do it, and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4A"/>
                </a:solidFill>
              </a:rPr>
              <a:t>ASSERTION MASTER MAP  —  COVERPAC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38912"/>
          </a:xfrm>
          <a:prstGeom prst="rect">
            <a:avLst/>
          </a:prstGeom>
          <a:solidFill>
            <a:srgbClr val="6C3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713232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58952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Completeness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713232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4248" y="758952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Occurrence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8" y="713232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758952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713232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758952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Existence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9904" y="713232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758952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713232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758952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713232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758952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96728" y="713232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7896" y="758952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Cut-off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234440"/>
            <a:ext cx="1600200" cy="32004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9184" y="1271016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Assertion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1234440"/>
            <a:ext cx="2148840" cy="32004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75104" y="1271016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What it means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1234440"/>
            <a:ext cx="1965960" cy="32004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69663" y="1271016"/>
            <a:ext cx="1874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234440"/>
            <a:ext cx="1874520" cy="32004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81344" y="12710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Direction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1234440"/>
            <a:ext cx="2514600" cy="32004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01584" y="127101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Source from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600200"/>
            <a:ext cx="1600200" cy="566928"/>
          </a:xfrm>
          <a:prstGeom prst="rect">
            <a:avLst/>
          </a:prstGeom>
          <a:solidFill>
            <a:srgbClr val="F8F9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8328" y="1636776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A6"/>
                </a:solidFill>
              </a:rPr>
              <a:t>Existence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20240" y="1600200"/>
            <a:ext cx="2148840" cy="566928"/>
          </a:xfrm>
          <a:prstGeom prst="rect">
            <a:avLst/>
          </a:prstGeom>
          <a:solidFill>
            <a:srgbClr val="F8F9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984248" y="1636776"/>
            <a:ext cx="202996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Does it actually exist?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1600200"/>
            <a:ext cx="1965960" cy="566928"/>
          </a:xfrm>
          <a:prstGeom prst="rect">
            <a:avLst/>
          </a:prstGeom>
          <a:solidFill>
            <a:srgbClr val="F8F9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78808" y="1636776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3A3A"/>
                </a:solidFill>
              </a:rPr>
              <a:t>Assets overstated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1600200"/>
            <a:ext cx="1874520" cy="566928"/>
          </a:xfrm>
          <a:prstGeom prst="rect">
            <a:avLst/>
          </a:prstGeom>
          <a:solidFill>
            <a:srgbClr val="F8F9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90488" y="1636776"/>
            <a:ext cx="17556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Records → Physical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1600200"/>
            <a:ext cx="2514600" cy="566928"/>
          </a:xfrm>
          <a:prstGeom prst="rect">
            <a:avLst/>
          </a:prstGeom>
          <a:solidFill>
            <a:srgbClr val="F8F9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10728" y="1636776"/>
            <a:ext cx="239572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Asset register / inspection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194560"/>
            <a:ext cx="1600200" cy="566928"/>
          </a:xfrm>
          <a:prstGeom prst="rect">
            <a:avLst/>
          </a:prstGeom>
          <a:solidFill>
            <a:srgbClr val="EEF2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8328" y="2231136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A6"/>
                </a:solidFill>
              </a:rPr>
              <a:t>Completeness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20240" y="2194560"/>
            <a:ext cx="2148840" cy="566928"/>
          </a:xfrm>
          <a:prstGeom prst="rect">
            <a:avLst/>
          </a:prstGeom>
          <a:solidFill>
            <a:srgbClr val="EEF2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984248" y="2231136"/>
            <a:ext cx="202996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Is everything recorded?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0" y="2194560"/>
            <a:ext cx="1965960" cy="566928"/>
          </a:xfrm>
          <a:prstGeom prst="rect">
            <a:avLst/>
          </a:prstGeom>
          <a:solidFill>
            <a:srgbClr val="EEF2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78808" y="2231136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3A3A"/>
                </a:solidFill>
              </a:rPr>
              <a:t>Liabilities understated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2194560"/>
            <a:ext cx="1874520" cy="566928"/>
          </a:xfrm>
          <a:prstGeom prst="rect">
            <a:avLst/>
          </a:prstGeom>
          <a:solidFill>
            <a:srgbClr val="EEF2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90488" y="2231136"/>
            <a:ext cx="17556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Physical → Records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20" y="2194560"/>
            <a:ext cx="2514600" cy="566928"/>
          </a:xfrm>
          <a:prstGeom prst="rect">
            <a:avLst/>
          </a:prstGeom>
          <a:solidFill>
            <a:srgbClr val="EEF2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110728" y="2231136"/>
            <a:ext cx="239572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GRNs / GDNs / Statements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2788920"/>
            <a:ext cx="1600200" cy="566928"/>
          </a:xfrm>
          <a:prstGeom prst="rect">
            <a:avLst/>
          </a:prstGeom>
          <a:solidFill>
            <a:srgbClr val="F8F9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38328" y="2825496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A6"/>
                </a:solidFill>
              </a:rPr>
              <a:t>Valuation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20240" y="2788920"/>
            <a:ext cx="2148840" cy="566928"/>
          </a:xfrm>
          <a:prstGeom prst="rect">
            <a:avLst/>
          </a:prstGeom>
          <a:solidFill>
            <a:srgbClr val="F8F9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984248" y="2825496"/>
            <a:ext cx="202996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At the right amount?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0" y="2788920"/>
            <a:ext cx="1965960" cy="566928"/>
          </a:xfrm>
          <a:prstGeom prst="rect">
            <a:avLst/>
          </a:prstGeom>
          <a:solidFill>
            <a:srgbClr val="F8F9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178808" y="2825496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3A3A"/>
                </a:solidFill>
              </a:rPr>
              <a:t>Write-downs missed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0" y="2788920"/>
            <a:ext cx="1874520" cy="566928"/>
          </a:xfrm>
          <a:prstGeom prst="rect">
            <a:avLst/>
          </a:prstGeom>
          <a:solidFill>
            <a:srgbClr val="F8F9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90488" y="2825496"/>
            <a:ext cx="17556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Calculations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46720" y="2788920"/>
            <a:ext cx="2514600" cy="566928"/>
          </a:xfrm>
          <a:prstGeom prst="rect">
            <a:avLst/>
          </a:prstGeom>
          <a:solidFill>
            <a:srgbClr val="F8F9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110728" y="2825496"/>
            <a:ext cx="239572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Invoices / Valuation report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3383280"/>
            <a:ext cx="1600200" cy="566928"/>
          </a:xfrm>
          <a:prstGeom prst="rect">
            <a:avLst/>
          </a:prstGeom>
          <a:solidFill>
            <a:srgbClr val="EEF2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38328" y="3419856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A6"/>
                </a:solidFill>
              </a:rPr>
              <a:t>Occurrence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20240" y="3383280"/>
            <a:ext cx="2148840" cy="566928"/>
          </a:xfrm>
          <a:prstGeom prst="rect">
            <a:avLst/>
          </a:prstGeom>
          <a:solidFill>
            <a:srgbClr val="EEF2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984248" y="3419856"/>
            <a:ext cx="202996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Did it actually happen?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0" y="3383280"/>
            <a:ext cx="1965960" cy="566928"/>
          </a:xfrm>
          <a:prstGeom prst="rect">
            <a:avLst/>
          </a:prstGeom>
          <a:solidFill>
            <a:srgbClr val="EEF2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78808" y="3419856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3A3A"/>
                </a:solidFill>
              </a:rPr>
              <a:t>Fictitious transactions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26480" y="3383280"/>
            <a:ext cx="1874520" cy="566928"/>
          </a:xfrm>
          <a:prstGeom prst="rect">
            <a:avLst/>
          </a:prstGeom>
          <a:solidFill>
            <a:srgbClr val="EEF2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190488" y="3419856"/>
            <a:ext cx="17556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Records → Source docs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46720" y="3383280"/>
            <a:ext cx="2514600" cy="566928"/>
          </a:xfrm>
          <a:prstGeom prst="rect">
            <a:avLst/>
          </a:prstGeom>
          <a:solidFill>
            <a:srgbClr val="EEF2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110728" y="3419856"/>
            <a:ext cx="239572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GDN / Sales invoice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3977639"/>
            <a:ext cx="1600200" cy="566928"/>
          </a:xfrm>
          <a:prstGeom prst="rect">
            <a:avLst/>
          </a:prstGeom>
          <a:solidFill>
            <a:srgbClr val="F8F9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38328" y="4014215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A6"/>
                </a:solidFill>
              </a:rPr>
              <a:t>Rights &amp; Oblig.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920240" y="3977639"/>
            <a:ext cx="2148840" cy="566928"/>
          </a:xfrm>
          <a:prstGeom prst="rect">
            <a:avLst/>
          </a:prstGeom>
          <a:solidFill>
            <a:srgbClr val="F8F9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984248" y="4014215"/>
            <a:ext cx="202996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Does entity own/owe it?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0" y="3977639"/>
            <a:ext cx="1965960" cy="566928"/>
          </a:xfrm>
          <a:prstGeom prst="rect">
            <a:avLst/>
          </a:prstGeom>
          <a:solidFill>
            <a:srgbClr val="F8F9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178808" y="4014215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3A3A"/>
                </a:solidFill>
              </a:rPr>
              <a:t>Assets not owned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26480" y="3977639"/>
            <a:ext cx="1874520" cy="566928"/>
          </a:xfrm>
          <a:prstGeom prst="rect">
            <a:avLst/>
          </a:prstGeom>
          <a:solidFill>
            <a:srgbClr val="F8F9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190488" y="4014215"/>
            <a:ext cx="17556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Ownership documents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46720" y="3977639"/>
            <a:ext cx="2514600" cy="566928"/>
          </a:xfrm>
          <a:prstGeom prst="rect">
            <a:avLst/>
          </a:prstGeom>
          <a:solidFill>
            <a:srgbClr val="F8F9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110728" y="4014215"/>
            <a:ext cx="239572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Title deeds / Invoices in name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" y="4572000"/>
            <a:ext cx="1600200" cy="566928"/>
          </a:xfrm>
          <a:prstGeom prst="rect">
            <a:avLst/>
          </a:prstGeom>
          <a:solidFill>
            <a:srgbClr val="EEF2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38328" y="4608576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A6"/>
                </a:solidFill>
              </a:rPr>
              <a:t>Presentation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20240" y="4572000"/>
            <a:ext cx="2148840" cy="566928"/>
          </a:xfrm>
          <a:prstGeom prst="rect">
            <a:avLst/>
          </a:prstGeom>
          <a:solidFill>
            <a:srgbClr val="EEF2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984248" y="4608576"/>
            <a:ext cx="202996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Disclosed correctly?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0" y="4572000"/>
            <a:ext cx="1965960" cy="566928"/>
          </a:xfrm>
          <a:prstGeom prst="rect">
            <a:avLst/>
          </a:prstGeom>
          <a:solidFill>
            <a:srgbClr val="EEF2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178808" y="4608576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3A3A"/>
                </a:solidFill>
              </a:rPr>
              <a:t>Classification errors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26480" y="4572000"/>
            <a:ext cx="1874520" cy="566928"/>
          </a:xfrm>
          <a:prstGeom prst="rect">
            <a:avLst/>
          </a:prstGeom>
          <a:solidFill>
            <a:srgbClr val="EEF2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190488" y="4608576"/>
            <a:ext cx="17556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FS vs Standards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46720" y="4572000"/>
            <a:ext cx="2514600" cy="566928"/>
          </a:xfrm>
          <a:prstGeom prst="rect">
            <a:avLst/>
          </a:prstGeom>
          <a:solidFill>
            <a:srgbClr val="EEF2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110728" y="4608576"/>
            <a:ext cx="239572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Financial statements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4320" y="5166360"/>
            <a:ext cx="1600200" cy="566928"/>
          </a:xfrm>
          <a:prstGeom prst="rect">
            <a:avLst/>
          </a:prstGeom>
          <a:solidFill>
            <a:srgbClr val="F8F9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38328" y="5202936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A6"/>
                </a:solidFill>
              </a:rPr>
              <a:t>Accuracy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920240" y="5166360"/>
            <a:ext cx="2148840" cy="566928"/>
          </a:xfrm>
          <a:prstGeom prst="rect">
            <a:avLst/>
          </a:prstGeom>
          <a:solidFill>
            <a:srgbClr val="F8F9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984248" y="5202936"/>
            <a:ext cx="202996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Correct amounts?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114800" y="5166360"/>
            <a:ext cx="1965960" cy="566928"/>
          </a:xfrm>
          <a:prstGeom prst="rect">
            <a:avLst/>
          </a:prstGeom>
          <a:solidFill>
            <a:srgbClr val="F8F9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178808" y="5202936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3A3A"/>
                </a:solidFill>
              </a:rPr>
              <a:t>Calculation errors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26480" y="5166360"/>
            <a:ext cx="1874520" cy="566928"/>
          </a:xfrm>
          <a:prstGeom prst="rect">
            <a:avLst/>
          </a:prstGeom>
          <a:solidFill>
            <a:srgbClr val="F8F9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190488" y="5202936"/>
            <a:ext cx="17556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Recalculate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46720" y="5166360"/>
            <a:ext cx="2514600" cy="566928"/>
          </a:xfrm>
          <a:prstGeom prst="rect">
            <a:avLst/>
          </a:prstGeom>
          <a:solidFill>
            <a:srgbClr val="F8F9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110728" y="5202936"/>
            <a:ext cx="239572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Invoices / Payroll records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74320" y="5760720"/>
            <a:ext cx="1600200" cy="566928"/>
          </a:xfrm>
          <a:prstGeom prst="rect">
            <a:avLst/>
          </a:prstGeom>
          <a:solidFill>
            <a:srgbClr val="EEF2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38328" y="5797296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A6"/>
                </a:solidFill>
              </a:rPr>
              <a:t>Cut-off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920240" y="5760720"/>
            <a:ext cx="2148840" cy="566928"/>
          </a:xfrm>
          <a:prstGeom prst="rect">
            <a:avLst/>
          </a:prstGeom>
          <a:solidFill>
            <a:srgbClr val="EEF2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984248" y="5797296"/>
            <a:ext cx="202996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Right period?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14800" y="5760720"/>
            <a:ext cx="1965960" cy="566928"/>
          </a:xfrm>
          <a:prstGeom prst="rect">
            <a:avLst/>
          </a:prstGeom>
          <a:solidFill>
            <a:srgbClr val="EEF2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178808" y="5797296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3A3A"/>
                </a:solidFill>
              </a:rPr>
              <a:t>Revenue pulled fwd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26480" y="5760720"/>
            <a:ext cx="1874520" cy="566928"/>
          </a:xfrm>
          <a:prstGeom prst="rect">
            <a:avLst/>
          </a:prstGeom>
          <a:solidFill>
            <a:srgbClr val="EEF2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190488" y="5797296"/>
            <a:ext cx="17556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Around year end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046720" y="5760720"/>
            <a:ext cx="2514600" cy="566928"/>
          </a:xfrm>
          <a:prstGeom prst="rect">
            <a:avLst/>
          </a:prstGeom>
          <a:solidFill>
            <a:srgbClr val="EEF2FF"/>
          </a:solidFill>
          <a:ln w="381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110728" y="5797296"/>
            <a:ext cx="239572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GDNs/GRNs at y/e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4A"/>
                </a:solidFill>
              </a:rPr>
              <a:t>DIRECTIONAL TESTING  —  The Logic That Saves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13232"/>
            <a:ext cx="5577840" cy="384048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Testing for OVERSTATEMENT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77840" cy="2926080"/>
          </a:xfrm>
          <a:prstGeom prst="rect">
            <a:avLst/>
          </a:prstGeom>
          <a:solidFill>
            <a:srgbClr val="FFEBEB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07008"/>
            <a:ext cx="292608" cy="292608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22529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52"/>
                </a:solidFill>
              </a:rPr>
              <a:t>Start INSIDE the accounting records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65376"/>
            <a:ext cx="292608" cy="292608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86537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836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52"/>
                </a:solidFill>
              </a:rPr>
              <a:t>Select from: sales listing / asset register / payroll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23744"/>
            <a:ext cx="292608" cy="292608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52374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54203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52"/>
                </a:solidFill>
              </a:rPr>
              <a:t>Trace BACK to supporting documents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82112"/>
            <a:ext cx="292608" cy="292608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1821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004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52"/>
                </a:solidFill>
              </a:rPr>
              <a:t>Confirm the transaction actually happened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5577840" cy="347472"/>
          </a:xfrm>
          <a:prstGeom prst="rect">
            <a:avLst/>
          </a:prstGeom>
          <a:solidFill>
            <a:srgbClr val="2D3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14223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Tests: Existence  •  Occurrence  •  Accuracy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713232"/>
            <a:ext cx="5577840" cy="384048"/>
          </a:xfrm>
          <a:prstGeom prst="rect">
            <a:avLst/>
          </a:prstGeom>
          <a:solidFill>
            <a:srgbClr val="1DA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7498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Testing for UNDERSTATEMENT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143000"/>
            <a:ext cx="5577840" cy="2926080"/>
          </a:xfrm>
          <a:prstGeom prst="rect">
            <a:avLst/>
          </a:prstGeom>
          <a:solidFill>
            <a:srgbClr val="E6F9F0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37960" y="1207008"/>
            <a:ext cx="292608" cy="292608"/>
          </a:xfrm>
          <a:prstGeom prst="rect">
            <a:avLst/>
          </a:prstGeom>
          <a:solidFill>
            <a:srgbClr val="1DA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12070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22529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52"/>
                </a:solidFill>
              </a:rPr>
              <a:t>Start OUTSIDE the accounting records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1865376"/>
            <a:ext cx="292608" cy="292608"/>
          </a:xfrm>
          <a:prstGeom prst="rect">
            <a:avLst/>
          </a:prstGeom>
          <a:solidFill>
            <a:srgbClr val="1DA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186537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18836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52"/>
                </a:solidFill>
              </a:rPr>
              <a:t>Select from: GDNs / GRNs / physical assets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2523744"/>
            <a:ext cx="292608" cy="292608"/>
          </a:xfrm>
          <a:prstGeom prst="rect">
            <a:avLst/>
          </a:prstGeom>
          <a:solidFill>
            <a:srgbClr val="1DA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60" y="252374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54203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52"/>
                </a:solidFill>
              </a:rPr>
              <a:t>Trace INTO the accounting system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3182112"/>
            <a:ext cx="292608" cy="292608"/>
          </a:xfrm>
          <a:prstGeom prst="rect">
            <a:avLst/>
          </a:prstGeom>
          <a:solidFill>
            <a:srgbClr val="1DA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60" y="31821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2004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52"/>
                </a:solidFill>
              </a:rPr>
              <a:t>Confirm everything has been captured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114800"/>
            <a:ext cx="5577840" cy="347472"/>
          </a:xfrm>
          <a:prstGeom prst="rect">
            <a:avLst/>
          </a:prstGeom>
          <a:solidFill>
            <a:srgbClr val="2D3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414223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Tests: Completeness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663440"/>
            <a:ext cx="11430000" cy="475488"/>
          </a:xfrm>
          <a:prstGeom prst="rect">
            <a:avLst/>
          </a:prstGeom>
          <a:solidFill>
            <a:srgbClr val="6C3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470001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💡 THE MAGIC LINK:  Testing RECEIVABLES for overstatement  →  indirectly tests REVENUE for overstatement
Testing PAYABLES for understatement  →  indirectly tests PURCHASES for understatement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230368"/>
            <a:ext cx="11430000" cy="4572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5266944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00"/>
                </a:solidFill>
              </a:rPr>
              <a:t>⚡ EXAM TRAP:  Wrong direction = 0 marks even if the procedure itself is correct!  Always ask: where does my sample come FROM?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4A"/>
                </a:solidFill>
              </a:rPr>
              <a:t>INVENTORY — COUNT PROCEDURES  (IAS 2: Lower of Cost &amp; NRV)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85800"/>
            <a:ext cx="3749039" cy="36576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7132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3749039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143000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59" y="114300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Review prior year working papers → known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655064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59" y="165506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Obtain count instructions → assess adequacy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167128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59" y="216712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Decide which locations to attend (high value first)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679192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59" y="267919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Confirm date, time, locations with 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191256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59" y="319125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Consider need for expert (wine, specialist goods)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3703320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59" y="370332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Ascertain inventory held at third parties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248" y="685800"/>
            <a:ext cx="3749039" cy="36576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61688" y="7132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DURING — Controls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0248" y="1078992"/>
            <a:ext cx="3749039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61688" y="1143000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114300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Observe count instructions being followed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1655064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165506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Confirm counters are NOT warehouse staff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2167128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216712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Check sheets: descriptions only (no quantities)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2679192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267919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Verify damaged/obsolete items segregated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1688" y="3191256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319125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Confirm no inventory movements during 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61688" y="3703320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4568" y="370332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Sequence check on count sheets at end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0456" y="685800"/>
            <a:ext cx="3749039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11896" y="7132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DURING — Substantive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0456" y="1078992"/>
            <a:ext cx="3749039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11896" y="1143000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94776" y="114300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Test count: sheets → warehouse (EXISTENCE)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11896" y="1655064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4776" y="165506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Test count: warehouse → sheets (COMPLETENESS)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11896" y="2167128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94776" y="216712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Record last GDN/GRN numbers for cut-off later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11896" y="2679192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94776" y="267919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Obtain copy of count sheets at end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11896" y="3191256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94776" y="319125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Inspect inventory for damage/obsolescence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11896" y="3703320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94776" y="370332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Third-party goods: confirm segregated, excluded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434840"/>
            <a:ext cx="11521440" cy="384048"/>
          </a:xfrm>
          <a:prstGeom prst="rect">
            <a:avLst/>
          </a:prstGeom>
          <a:solidFill>
            <a:srgbClr val="6C3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4462272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🧠 MEMORY:  B-D-F  →  BEFORE (prepare)  •  DURING Controls + Substantive  •  FINAL audit (valuation)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919472"/>
            <a:ext cx="11521440" cy="566928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" y="49560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3A3A"/>
                </a:solidFill>
              </a:rPr>
              <a:t>⚡ EXAM TRAP: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11680" y="495604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B52"/>
                </a:solidFill>
              </a:rPr>
              <a:t>If the question asks for VALUATION procedures — do NOT write count/existence procedures.
Existence = count attendance.   Valuation = cost vs NRV testing.   WIP for retailers = 0 marks!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4A"/>
                </a:solidFill>
              </a:rPr>
              <a:t>INVENTORY VALUATION  —  Cost vs NRV  (Most Tested Area!)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85800"/>
            <a:ext cx="5486400" cy="36576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7132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COST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54864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16128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59" y="1161288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Agree cost to purchase invoices (raw materials)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59" y="1453896"/>
            <a:ext cx="4983480" cy="1828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453896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A5C80"/>
                </a:solidFill>
              </a:rPr>
              <a:t>→ Valuation / Rights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6916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59" y="1691640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Agree labour costs to payroll records / timesheets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59" y="1984248"/>
            <a:ext cx="4983480" cy="1828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1984248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A5C80"/>
                </a:solidFill>
              </a:rPr>
              <a:t>→ Valuation /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221991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59" y="2221991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Confirm overheads are production-related (not admin)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59" y="2514599"/>
            <a:ext cx="4983480" cy="1828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" y="2514599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A5C80"/>
                </a:solidFill>
              </a:rPr>
              <a:t>→ Valuation /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2752344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59" y="275234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For standard costs: obtain cost card; compare to actual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59" y="3044951"/>
            <a:ext cx="4983480" cy="1828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" y="3044951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A5C80"/>
                </a:solidFill>
              </a:rPr>
              <a:t>→ 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3282696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59" y="3282696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Inspect variance account — large variance = unreliable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59" y="3575303"/>
            <a:ext cx="4983480" cy="1828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" y="3575303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A5C80"/>
                </a:solidFill>
              </a:rPr>
              <a:t>→ Valuation / 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381304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59" y="3813048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Cast and agree inventory listing to financial statements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59" y="4105656"/>
            <a:ext cx="4983480" cy="1828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" y="4105656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A5C80"/>
                </a:solidFill>
              </a:rPr>
              <a:t>→ Completeness / Presentation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685800"/>
            <a:ext cx="5943600" cy="365760"/>
          </a:xfrm>
          <a:prstGeom prst="rect">
            <a:avLst/>
          </a:prstGeom>
          <a:solidFill>
            <a:srgbClr val="F46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80759" y="71323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NRV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1078992"/>
            <a:ext cx="59436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80759" y="116128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1161288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Inspect post-year-end sales invoices → is NRV &gt; cost?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1453896"/>
            <a:ext cx="5440680" cy="1828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36792" y="1453896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A5C80"/>
                </a:solidFill>
              </a:rPr>
              <a:t>→ Valuation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59" y="16916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169164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Review aged inventory report for slow-moving items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1984248"/>
            <a:ext cx="5440680" cy="1828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36792" y="1984248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A5C80"/>
                </a:solidFill>
              </a:rPr>
              <a:t>→ Valuation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59" y="2221991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221991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Calculate inventory holding period vs prior year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2514599"/>
            <a:ext cx="5440680" cy="1828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36792" y="2514599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A5C80"/>
                </a:solidFill>
              </a:rPr>
              <a:t>→ Valuation (Analytical)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59" y="2752344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2752344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For fallen demand: search competitor prices online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3044951"/>
            <a:ext cx="5440680" cy="1828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36792" y="3044951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A5C80"/>
                </a:solidFill>
              </a:rPr>
              <a:t>→ Valuation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282696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282696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Review board minutes re: write-down discussions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3575303"/>
            <a:ext cx="5440680" cy="1828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36792" y="3575303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A5C80"/>
                </a:solidFill>
              </a:rPr>
              <a:t>→ Valuation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80759" y="381304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3813048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Compare actual monthly sales to budget — discuss gaps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4105656"/>
            <a:ext cx="5440680" cy="1828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336792" y="4105656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A5C80"/>
                </a:solidFill>
              </a:rPr>
              <a:t>→ Valuation (Analytical)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4663440"/>
            <a:ext cx="11521440" cy="6858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57200" y="469087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B52"/>
                </a:solidFill>
              </a:rPr>
              <a:t>📋 SCENARIO: Cookit Co (Remy Gusteau Inventory — $1.7m at cost, demand dropped)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9651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Key: Post-year-end sales invoices → NRV check  •  Competitor website search  •  Board minutes re write-down  •  Monthly sales vs budget  •  Do NOT write WIP/existence procedures!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4A"/>
                </a:solidFill>
              </a:rPr>
              <a:t>TRADE RECEIVABLES  —  Circularisation &amp; Alternatives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85800"/>
            <a:ext cx="5303520" cy="347472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CIRCULARISATION STEPS (Memorise!)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60704"/>
            <a:ext cx="530352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124712"/>
            <a:ext cx="256032" cy="256032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1247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14300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Obtain CLIENT CONSENT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581912"/>
            <a:ext cx="256032" cy="256032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5819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160020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Obtain &amp; cast receivables listing → agree to ledger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039112"/>
            <a:ext cx="256032" cy="256032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20391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05740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Select sample: large, old, NIL, CREDIT balances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496312"/>
            <a:ext cx="256032" cy="256032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" y="24963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251460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Auditor prepares letters on CLIENT LETTERHEAD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2953512"/>
            <a:ext cx="256032" cy="256032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" y="29535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297180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Client signs; AUDITOR sends (or supervises email)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3410712"/>
            <a:ext cx="256032" cy="256032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" y="34107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342900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Replies come DIRECTLY to auditor's office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3867912"/>
            <a:ext cx="256032" cy="256032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" y="38679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388620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Reconcile replies to client records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325112"/>
            <a:ext cx="256032" cy="256032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4048" y="43251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34340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Non-replies → follow up → alternative procedures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685800"/>
            <a:ext cx="5989320" cy="347472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0" y="713232"/>
            <a:ext cx="5806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HANDLING EXCEPTIONS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1060704"/>
            <a:ext cx="598932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16168" y="1124712"/>
            <a:ext cx="2560320" cy="292608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07608" y="1152144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 Response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16168" y="1444752"/>
            <a:ext cx="58338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1. Send follow-up confirmation
2. Phone → request written reply
3. Alternative: after-date cash, sales invoices, GDNs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16168" y="2377440"/>
            <a:ext cx="2560320" cy="292608"/>
          </a:xfrm>
          <a:prstGeom prst="rect">
            <a:avLst/>
          </a:prstGeom>
          <a:solidFill>
            <a:srgbClr val="F46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07608" y="2404872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Amount Differs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16168" y="2697480"/>
            <a:ext cx="58338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1. Cash in transit → agree to post-YE bank receipts
2. Goods in transit → agree to pre-YE GDN
3. Mispositng → review list of customers for errors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16168" y="3630168"/>
            <a:ext cx="2560320" cy="292608"/>
          </a:xfrm>
          <a:prstGeom prst="rect">
            <a:avLst/>
          </a:prstGeom>
          <a:solidFill>
            <a:srgbClr val="6C3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07608" y="3657600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Credit Balance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16168" y="3950208"/>
            <a:ext cx="58338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1. Discuss with management how credit arose
2. Check if same entity is also a supplier
3. Consider reclassifying as a PAYABLE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5120640"/>
            <a:ext cx="11521440" cy="530352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514807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3A3A"/>
                </a:solidFill>
              </a:rPr>
              <a:t>⚡ LIMITATION of circularisation: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66160" y="514807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Low response rates  •  Confirms EXISTENCE not VALUATION (customer doesn't say they'll pay)  •  Errors in customer's own records  •  If scenario says 'no circ' — DO NOT write it!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4A"/>
                </a:solidFill>
              </a:rPr>
              <a:t>TRADE PAYABLES  —  Completeness is the Key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85800"/>
            <a:ext cx="11521440" cy="45720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5A623"/>
                </a:solidFill>
              </a:rPr>
              <a:t>⚠️  Management WANTS payables LOW → fewer liabilities = better profit.   Always start OUTSIDE the accounting records to test completeness.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11521440" cy="3977639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335024"/>
            <a:ext cx="219456" cy="219456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335024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31673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B52"/>
                </a:solidFill>
              </a:rPr>
              <a:t>Cast list of suppliers → agree to payables account &amp; FS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87000" y="1298448"/>
            <a:ext cx="1444752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14432" y="131673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D1B4A"/>
                </a:solidFill>
              </a:rPr>
              <a:t>Completeness / Presentation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792224"/>
            <a:ext cx="219456" cy="219456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1792224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177393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B52"/>
                </a:solidFill>
              </a:rPr>
              <a:t>Select GRNs from just BEFORE year end → trace to payables ledger or GRNI accrual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87000" y="1755648"/>
            <a:ext cx="1444752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14432" y="177393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D1B4A"/>
                </a:solidFill>
              </a:rPr>
              <a:t>Completeness / Cut-off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249424"/>
            <a:ext cx="219456" cy="219456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2249424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223113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B52"/>
                </a:solidFill>
              </a:rPr>
              <a:t>Review purchase invoices received AFTER year end → if goods received before YE → should be accrued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87000" y="2212848"/>
            <a:ext cx="1444752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314432" y="223113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D1B4A"/>
                </a:solidFill>
              </a:rPr>
              <a:t>Completeness / Cut-off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2706624"/>
            <a:ext cx="219456" cy="219456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" y="2706624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268833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B52"/>
                </a:solidFill>
              </a:rPr>
              <a:t>Review AFTER-DATE PAYMENTS → if pre-year-end goods → trace to payables listing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87000" y="2670048"/>
            <a:ext cx="1444752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14432" y="268833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D1B4A"/>
                </a:solidFill>
              </a:rPr>
              <a:t>Completeness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3163824"/>
            <a:ext cx="219456" cy="219456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4048" y="3163824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314553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B52"/>
                </a:solidFill>
              </a:rPr>
              <a:t>Reperform SUPPLIER STATEMENT RECONCILIATIONS → investigate reconciling items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87000" y="3127248"/>
            <a:ext cx="1444752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14432" y="314553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D1B4A"/>
                </a:solidFill>
              </a:rPr>
              <a:t>Completeness / Existence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" y="3621024"/>
            <a:ext cx="219456" cy="219456"/>
          </a:xfrm>
          <a:prstGeom prst="rect">
            <a:avLst/>
          </a:prstGeom>
          <a:solidFill>
            <a:srgbClr val="F46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4048" y="3621024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" y="360273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B52"/>
                </a:solidFill>
              </a:rPr>
              <a:t>Compare payables payment period / total payables to PRIOR YEAR → investigate DECREASES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87000" y="3584448"/>
            <a:ext cx="1444752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14432" y="360273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D1B4A"/>
                </a:solidFill>
              </a:rPr>
              <a:t>Completeness (Analytical)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4078224"/>
            <a:ext cx="219456" cy="219456"/>
          </a:xfrm>
          <a:prstGeom prst="rect">
            <a:avLst/>
          </a:prstGeom>
          <a:solidFill>
            <a:srgbClr val="F46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4048" y="4078224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" y="4059935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B52"/>
                </a:solidFill>
              </a:rPr>
              <a:t>Compare accruals list to prior year → identify MISSING items or unusual fluctuations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87000" y="4041648"/>
            <a:ext cx="1444752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314432" y="4059935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D1B4A"/>
                </a:solidFill>
              </a:rPr>
              <a:t>Completeness (Analytical)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4535424"/>
            <a:ext cx="219456" cy="219456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84048" y="4535424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" y="451713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B52"/>
                </a:solidFill>
              </a:rPr>
              <a:t>Select post-year-end invoices → agree to individual supplier accounts (if not circ.)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87000" y="4498848"/>
            <a:ext cx="1444752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314432" y="451713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D1B4A"/>
                </a:solidFill>
              </a:rPr>
              <a:t>Completeness / Existence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303520"/>
            <a:ext cx="5577840" cy="530352"/>
          </a:xfrm>
          <a:prstGeom prst="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53309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AA6C"/>
                </a:solidFill>
              </a:rPr>
              <a:t>✅ Supplier Statement Reconciliation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605272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BEST evidence for payables — External, Written, Independent source.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5303520"/>
            <a:ext cx="5760720" cy="530352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72200" y="5330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3A3A"/>
                </a:solidFill>
              </a:rPr>
              <a:t>❌ Common Mistake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56052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Testing only FS balance, not going OUTSIDE to GRNs. Completeness MUST start outside!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4A"/>
                </a:solidFill>
              </a:rPr>
              <a:t>PROVISIONS &amp; CONTINGENCIES  —  IAS 37  (High Examiner Frequency)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85800"/>
            <a:ext cx="5303520" cy="1508760"/>
          </a:xfrm>
          <a:prstGeom prst="rect">
            <a:avLst/>
          </a:prstGeom>
          <a:solidFill>
            <a:srgbClr val="E8F0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ABB"/>
                </a:solidFill>
              </a:rPr>
              <a:t>IAS 37: PROVISION = RECOGNISE when ALL 3 met: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241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52"/>
                </a:solidFill>
              </a:rPr>
              <a:t>  1. Present OBLIGATION from past event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52"/>
                </a:solidFill>
              </a:rPr>
              <a:t>  2. Payment is PROBABLE (&gt;50%)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52"/>
                </a:solidFill>
              </a:rPr>
              <a:t>  3. Amount can be ESTIMATED reliably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685800"/>
            <a:ext cx="6035040" cy="1508760"/>
          </a:xfrm>
          <a:prstGeom prst="rect">
            <a:avLst/>
          </a:prstGeom>
          <a:solidFill>
            <a:srgbClr val="FFF3CD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0" y="713232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00"/>
                </a:solidFill>
              </a:rPr>
              <a:t>QUICK DECISION: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00584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B52"/>
                </a:solidFill>
              </a:rPr>
              <a:t>PROBABLE payment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100584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DAA6C"/>
                </a:solidFill>
              </a:rPr>
              <a:t>→ PROVISION (recognise)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32588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B52"/>
                </a:solidFill>
              </a:rPr>
              <a:t>POSSIBLE payment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32588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46D1E"/>
                </a:solidFill>
              </a:rPr>
              <a:t>→ CONTINGENT LIABILITY (disclose only)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64592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B52"/>
                </a:solidFill>
              </a:rPr>
              <a:t>Virtually CERTAIN receipt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164592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DAA6C"/>
                </a:solidFill>
              </a:rPr>
              <a:t>→ CONTINGENT ASSET (recognise)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96596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B52"/>
                </a:solidFill>
              </a:rPr>
              <a:t>PROBABLE receipt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196596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46D1E"/>
                </a:solidFill>
              </a:rPr>
              <a:t>→ CONTINGENT ASSET (disclose only)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331720"/>
            <a:ext cx="5303520" cy="347472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79" y="235915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LEGAL CLAIM PROVISIONS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706624"/>
            <a:ext cx="530352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79" y="277063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59" y="2770632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Review correspondence from claimant (amount/basis)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3099815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59" y="3099815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Contact client's LAWYERS → probability + likely amount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34290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59" y="3429000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Inspect board minutes → is payment probable?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3758183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59" y="3758183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Inspect post-YE bank → actual payments vs provision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40873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59" y="4087368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Recalculate provision; cast list of provisions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441655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59" y="4416552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Written representation from management → completeness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79" y="474573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59" y="4745736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Review FS disclosures → IAS 37 compliance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2331720"/>
            <a:ext cx="5303520" cy="347472"/>
          </a:xfrm>
          <a:prstGeom prst="rect">
            <a:avLst/>
          </a:prstGeom>
          <a:solidFill>
            <a:srgbClr val="F46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235915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REDUNDANCY PROVISIONS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2706624"/>
            <a:ext cx="530352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92240" y="277063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2770632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Review board minutes → formal decision BEFORE year 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3099815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3099815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Inspect announcement to employees/website → pre-YE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34290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3429000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Obtain employee list → agree to HR records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3758183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3758183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For sample: agree entitlement to employment contracts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40873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4087368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Cast the redundancy schedule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441655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4416552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Written representation → completeness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474573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4745736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Review FS disclosures → IAS 37 compliance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5239512"/>
            <a:ext cx="11521440" cy="54864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7200" y="526694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3A3A"/>
                </a:solidFill>
              </a:rPr>
              <a:t>⚡ REDUNDANCY TRAPS: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51760" y="5266944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B52"/>
                </a:solidFill>
              </a:rPr>
              <a:t>❌ Do NOT contact lawyers (it's not a legal claim!)  ❌ Do NOT compare to prior year (one-off event)  ❌ Do NOT review post-YE payments unless closure already happened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4A"/>
                </a:solidFill>
              </a:rPr>
              <a:t>NON-CURRENT ASSETS (PPE)  —  Additions, Depreciation &amp; Revaluations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85800"/>
            <a:ext cx="5669280" cy="347472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71323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ADDITIONS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60704"/>
            <a:ext cx="56692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1247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59" y="112471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Obtain breakdown; cast; agree to asset 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508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59" y="150876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Agree cost to purchase invoice (in CLIENT name)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892807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59" y="1892807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Inspect description → capital not repairs/maintenance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27685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59" y="227685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Review repairs &amp; maintenance account for items to capitalise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660904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59" y="2660904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Physically INSPECT the asset on premises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685800"/>
            <a:ext cx="5669280" cy="347472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79" y="71323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DEPRECIATION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060704"/>
            <a:ext cx="56692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79" y="11247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112471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Inspect asset replacement budgets → UEL reasonable?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79" y="1508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150876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Review profit/loss on disposals → large loss = under-depr.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79" y="1892807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1892807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Compare rates to industry averages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79" y="227685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227685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Recalculate charge for sample of assets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79" y="2660904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59" y="2660904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Proof-in-total: cost ÷ life = expected; compare to actual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611880"/>
            <a:ext cx="5669280" cy="347472"/>
          </a:xfrm>
          <a:prstGeom prst="rect">
            <a:avLst/>
          </a:prstGeom>
          <a:solidFill>
            <a:srgbClr val="F46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79" y="363931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REVALUATIONS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986784"/>
            <a:ext cx="56692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79" y="4050791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59" y="4050791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Assess valuer: qualifications, independence, experience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44348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59" y="443484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If valuer related to management → INDEPENDENCE RISK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79" y="481888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59" y="481888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Review assumptions/methodology → IAS 16 compliance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79" y="520293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59" y="520293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ALL assets in same class revalued? (IAS 16 requirement)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79" y="5586983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59" y="5586983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Recalculate revaluation surplus → agree to equity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79" y="5971031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59" y="5971031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Recalc depreciation based on NEW carrying amount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3611880"/>
            <a:ext cx="5669280" cy="347472"/>
          </a:xfrm>
          <a:prstGeom prst="rect">
            <a:avLst/>
          </a:prstGeom>
          <a:solidFill>
            <a:srgbClr val="6C3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55079" y="363931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DISPOSALS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986784"/>
            <a:ext cx="56692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55079" y="4050791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ABB"/>
                </a:solidFill>
              </a:rPr>
              <a:t>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59" y="4050791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Obtain disposal schedule → assets removed from register?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79" y="44348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ABB"/>
                </a:solidFill>
              </a:rPr>
              <a:t>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59" y="443484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Agree sale proceeds to supporting documentation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79" y="481888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ABB"/>
                </a:solidFill>
              </a:rPr>
              <a:t>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37959" y="481888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Recalculate profit/loss on disposal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5079" y="520293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ABB"/>
                </a:solidFill>
              </a:rPr>
              <a:t>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37959" y="520293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Large loss? → investigate depreciation rate adequacy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5079" y="5586983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ABB"/>
                </a:solidFill>
              </a:rPr>
              <a:t>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7959" y="5586983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Review FS disclosure note for completeness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6291072"/>
            <a:ext cx="11521440" cy="4572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57200" y="6318504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📋 HERON CO: $3.6m capitalised includes refundable tax $0.5m ✗ + training $0.1m ✗  → Must be expensed. Testing costs $0.2m → discuss eligibility with management.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4A"/>
                </a:solidFill>
              </a:rPr>
              <a:t>BANK &amp; CASH  •  BANK LOANS  •  REVENUE PROCEDURES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85800"/>
            <a:ext cx="3749039" cy="347472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BANK RECONCILIATION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60704"/>
            <a:ext cx="3749039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11556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A6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155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Obtain recon; CAST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49961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A6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9961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Bank confirmation letter → agree to recon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883664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A6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88366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Agree bank ledger → cash book / GL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267712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A6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26771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Agree bank statement → original YE 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65176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A6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65176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Trace outstanding lodgements: pre-YE ledger ✓ + post-YE statement ✓ + paying-in book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03580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A6"/>
                </a:solidFill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03580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Trace unpresented cheques: pre-YE ledger ✓ + post-YE statement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41985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A6"/>
                </a:solidFill>
              </a:rPr>
              <a:t>7.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41985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Old cheques → consider writing 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803904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A6"/>
                </a:solidFill>
              </a:rPr>
              <a:t>8.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0390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Review for unusual items/transfers near YE (window dressing!)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4187952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A6"/>
                </a:solidFill>
              </a:rPr>
              <a:t>9.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18795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Confirm letter: security / right of set-off → disclosure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457200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A6"/>
                </a:solidFill>
              </a:rPr>
              <a:t>10.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Overdraft → current liability; savings → current asset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685800"/>
            <a:ext cx="3703320" cy="347472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43400" y="713232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BANK LOANS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1060704"/>
            <a:ext cx="370332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15968" y="1115568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7136" y="11155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Obtain loan schedule; cast; agree to FS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1499616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7136" y="149961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Bank confirmation letter → balance, security,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1883664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17136" y="188366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Agree loan proceeds to bank statements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5968" y="2267712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17136" y="226771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Obtain loan agreement → terms, rate, covenants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5968" y="2651760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17136" y="265176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Recalculate interest (balance × rate × time)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15968" y="3035808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17136" y="303580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Recalculate split: capital vs interest per repayment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15968" y="3419856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17136" y="341985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Recalculate current / non-current split in FS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5968" y="3803904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3A3A"/>
                </a:solidFill>
              </a:rPr>
              <a:t>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17136" y="380390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Review covenants → recalculate → breaches?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15968" y="4187952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3A3A"/>
                </a:solidFill>
              </a:rPr>
              <a:t>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17136" y="418795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Covenant breach? → entire loan becomes CURRENT!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15968" y="4572000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17136" y="45720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Review FS disclosures → security, maturity, rate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8160" y="685800"/>
            <a:ext cx="3730752" cy="347472"/>
          </a:xfrm>
          <a:prstGeom prst="rect">
            <a:avLst/>
          </a:prstGeom>
          <a:solidFill>
            <a:srgbClr val="F46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29600" y="713232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REVENUE PROCEDURES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8160" y="1060704"/>
            <a:ext cx="3730752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202168" y="1170432"/>
            <a:ext cx="1005840" cy="182880"/>
          </a:xfrm>
          <a:prstGeom prst="rect">
            <a:avLst/>
          </a:prstGeom>
          <a:solidFill>
            <a:srgbClr val="F46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202168" y="117043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CUT-OFF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1115568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Select GDNs before &amp; after YE → trace to sales listing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02168" y="1591056"/>
            <a:ext cx="1005840" cy="182880"/>
          </a:xfrm>
          <a:prstGeom prst="rect">
            <a:avLst/>
          </a:prstGeom>
          <a:solidFill>
            <a:srgbClr val="F46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202168" y="159105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COMPLETENESS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35440" y="1536192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Select customer orders → GDNs → invoices → listing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02168" y="2011680"/>
            <a:ext cx="1005840" cy="182880"/>
          </a:xfrm>
          <a:prstGeom prst="rect">
            <a:avLst/>
          </a:prstGeom>
          <a:solidFill>
            <a:srgbClr val="F46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02168" y="201168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OCCURRENCE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35440" y="1956816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Select invoices from listing → trace to GDN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02168" y="2432304"/>
            <a:ext cx="1005840" cy="182880"/>
          </a:xfrm>
          <a:prstGeom prst="rect">
            <a:avLst/>
          </a:prstGeom>
          <a:solidFill>
            <a:srgbClr val="F46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02168" y="243230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35440" y="2377440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Recalculate discounts &amp; sales tax on invoices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02168" y="2852928"/>
            <a:ext cx="1005840" cy="182880"/>
          </a:xfrm>
          <a:prstGeom prst="rect">
            <a:avLst/>
          </a:prstGeom>
          <a:solidFill>
            <a:srgbClr val="F46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202168" y="28529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OCCURRENCE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35440" y="2798064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Inspect post-YE credit notes → confirm sale reversed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02168" y="3273552"/>
            <a:ext cx="1005840" cy="182880"/>
          </a:xfrm>
          <a:prstGeom prst="rect">
            <a:avLst/>
          </a:prstGeom>
          <a:solidFill>
            <a:srgbClr val="6C3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202168" y="327355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ANALYTICAL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35440" y="3218688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Compare revenue to prior year by month → discuss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02168" y="3694176"/>
            <a:ext cx="1005840" cy="182880"/>
          </a:xfrm>
          <a:prstGeom prst="rect">
            <a:avLst/>
          </a:prstGeom>
          <a:solidFill>
            <a:srgbClr val="6C3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202168" y="369417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ANALYTICAL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35440" y="3639312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Compare by product line / store / customer type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02168" y="4114800"/>
            <a:ext cx="1005840" cy="182880"/>
          </a:xfrm>
          <a:prstGeom prst="rect">
            <a:avLst/>
          </a:prstGeom>
          <a:solidFill>
            <a:srgbClr val="6C3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202168" y="41148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ANALYTICAL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35440" y="4059936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Proof-in-total: PY × price rise × new stores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02168" y="4535424"/>
            <a:ext cx="1005840" cy="182880"/>
          </a:xfrm>
          <a:prstGeom prst="rect">
            <a:avLst/>
          </a:prstGeom>
          <a:solidFill>
            <a:srgbClr val="6C3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202168" y="453542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ANALYTICAL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35440" y="4480560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Calculate gross profit margin → compare to PY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0040" y="5239512"/>
            <a:ext cx="11521440" cy="4572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57200" y="526694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00"/>
                </a:solidFill>
              </a:rPr>
              <a:t>⚡ ANALYTICAL PROCEDURE TRAP:  'Compare to prior year' = ½ mark ONLY.  Must add: '...and INVESTIGATE SIGNIFICANT DIFFERENCES with management' for full mark!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4A"/>
                </a:solidFill>
              </a:rPr>
              <a:t>DEVELOPMENT COSTS (IAS 38)  •  SHARE CAPITAL  •  PAYROLL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85800"/>
            <a:ext cx="5303520" cy="347472"/>
          </a:xfrm>
          <a:prstGeom prst="rect">
            <a:avLst/>
          </a:prstGeom>
          <a:solidFill>
            <a:srgbClr val="6C3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🏴‍☠️  PIRATE — Criteria to CAPITALISE Development Costs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60704"/>
            <a:ext cx="53035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124712"/>
            <a:ext cx="320040" cy="320040"/>
          </a:xfrm>
          <a:prstGeom prst="rect">
            <a:avLst/>
          </a:prstGeom>
          <a:solidFill>
            <a:srgbClr val="6C3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12471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161288"/>
            <a:ext cx="4736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52"/>
                </a:solidFill>
              </a:rPr>
              <a:t>Probable future economic benefits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627632"/>
            <a:ext cx="320040" cy="320040"/>
          </a:xfrm>
          <a:prstGeom prst="rect">
            <a:avLst/>
          </a:prstGeom>
          <a:solidFill>
            <a:srgbClr val="6C3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6276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664208"/>
            <a:ext cx="4736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52"/>
                </a:solidFill>
              </a:rPr>
              <a:t>Intention to complete and use/sell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130552"/>
            <a:ext cx="320040" cy="320040"/>
          </a:xfrm>
          <a:prstGeom prst="rect">
            <a:avLst/>
          </a:prstGeom>
          <a:solidFill>
            <a:srgbClr val="6C3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21305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167128"/>
            <a:ext cx="4736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52"/>
                </a:solidFill>
              </a:rPr>
              <a:t>Resources adequate to complete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633472"/>
            <a:ext cx="320040" cy="320040"/>
          </a:xfrm>
          <a:prstGeom prst="rect">
            <a:avLst/>
          </a:prstGeom>
          <a:solidFill>
            <a:srgbClr val="6C3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" y="26334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670048"/>
            <a:ext cx="4736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52"/>
                </a:solidFill>
              </a:rPr>
              <a:t>Ability to use/sell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3136392"/>
            <a:ext cx="320040" cy="320040"/>
          </a:xfrm>
          <a:prstGeom prst="rect">
            <a:avLst/>
          </a:prstGeom>
          <a:solidFill>
            <a:srgbClr val="6C3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" y="31363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172968"/>
            <a:ext cx="4736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52"/>
                </a:solidFill>
              </a:rPr>
              <a:t>Technical feasibility confirmed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3639312"/>
            <a:ext cx="320040" cy="320040"/>
          </a:xfrm>
          <a:prstGeom prst="rect">
            <a:avLst/>
          </a:prstGeom>
          <a:solidFill>
            <a:srgbClr val="6C3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" y="363931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675887"/>
            <a:ext cx="4736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52"/>
                </a:solidFill>
              </a:rPr>
              <a:t>Expenditure can be measured reliably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416552"/>
            <a:ext cx="5303520" cy="320040"/>
          </a:xfrm>
          <a:prstGeom prst="rect">
            <a:avLst/>
          </a:prstGeom>
          <a:solidFill>
            <a:srgbClr val="6C3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444398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KEY PROCEDURES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64024"/>
            <a:ext cx="5303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828032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▸ Obtain breakdown; cast; agree to FS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056632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▸ For each project: capitalised vs expensed? Discuss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285232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▸ Research costs: agree to invoices + P&amp;L inclusion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513832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▸ Development costs: confirm ALL 6 PIRATE criteria met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742432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▸ Recalculate amortisation → confirm starts from production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71032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▸ Review market research → ability to sell confirmed?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685800"/>
            <a:ext cx="2926080" cy="347472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0" y="71323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SHARE CAPITAL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52160" y="1060704"/>
            <a:ext cx="29260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16168" y="11155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9048" y="11155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Board minutes → shares issued, price confirmed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16168" y="149961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9048" y="14996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Issue permitted by company constitution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16168" y="1883664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9048" y="18836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Agree to share register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16168" y="22677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9048" y="22677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Bank ledger/statements → cash received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16168" y="2651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9048" y="26517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Recalculate: nominal value → share capital;excess → share premium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16168" y="303580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9048" y="30358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Both amounts correctly classified in equity?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16168" y="341985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99048" y="34198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Unpaid? Confirm 'called up not paid' disclosure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16168" y="3803904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9048" y="38039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Review FS disclosures → accounting standards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61120" y="685800"/>
            <a:ext cx="2907792" cy="347472"/>
          </a:xfrm>
          <a:prstGeom prst="rect">
            <a:avLst/>
          </a:prstGeom>
          <a:solidFill>
            <a:srgbClr val="F46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052560" y="713232"/>
            <a:ext cx="2724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PAYROLL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61120" y="1060704"/>
            <a:ext cx="2907792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025128" y="11155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08008" y="11155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Cast monthly payroll listing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25128" y="149961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08008" y="14996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Agree net pay to bank transfer + statements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25128" y="1883664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08008" y="18836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Recalculate gross/net pay for sample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25128" y="22677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08008" y="22677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Recalculate statutory deductions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25128" y="2651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08008" y="26517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Joiners/leavers: agree start/leave date to HR; recalculate first/last pay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25128" y="303580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08008" y="30358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Agree individual pay to contracts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25128" y="341985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08008" y="34198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Timesheets for hourly workers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25128" y="3803904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6D1E"/>
                </a:solidFill>
              </a:rPr>
              <a:t>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08008" y="38039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Proof-in-total: PY ± joiners/leavers ± pay rise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852160" y="4416552"/>
            <a:ext cx="6016752" cy="68580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989320" y="4443984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3A3A"/>
                </a:solidFill>
              </a:rPr>
              <a:t>⚡ DEVELOPMENT COSTS TRAP: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89320" y="473659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If criteria NOT met → costs must be EXPENSED immediately.
CANNOT be re-capitalised in a future year even if criteria later met!
Management refuses? → Material misstatement → Qualified opinion.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4A"/>
                </a:solidFill>
              </a:rPr>
              <a:t>NOT-FOR-PROFIT ORGANISATIONS  •  AUDIT EVIDENCE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85800"/>
            <a:ext cx="5303520" cy="347472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NOT-FOR-PROFIT — Key Differences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60704"/>
            <a:ext cx="53035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115568"/>
            <a:ext cx="1234440" cy="292608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2336" y="1143000"/>
            <a:ext cx="11978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Income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3352" y="1115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Donations, grants, ticket sales, fundraising — NO invoices or GDNs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517904"/>
            <a:ext cx="1234440" cy="292608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2336" y="1545336"/>
            <a:ext cx="11978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Key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151790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COMPLETENESS of income (donations hard to verify)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1920240"/>
            <a:ext cx="1234440" cy="292608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2336" y="1947672"/>
            <a:ext cx="11978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3352" y="19202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Weaker — volunteers, part-time trustees, less segregation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322576"/>
            <a:ext cx="1234440" cy="292608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2336" y="2350008"/>
            <a:ext cx="11978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Additional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3352" y="232257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VFM audit • Regularity audit • Performance indicators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862072"/>
            <a:ext cx="5303520" cy="32004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288950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NFP INCOME PROCEDURES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209544"/>
            <a:ext cx="530352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326440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264408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Ticket sales: proof-in-total (price × sold × events)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3675887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675887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Advance tickets: confirm treated as DEFERRED INCOME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40873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087368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Cash donations: reconcile to banking records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449884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498848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Bank transfer donations: trace from sign-up forms to bank receipts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491032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910328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Grant income: agree to documentation; confirm conditions met; repayment risk?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532180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321808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Restricted funds: confirm separately presented in FS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573328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6"/>
                </a:solidFill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733288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Compare income categories to prior year → investigate differences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52160" y="685800"/>
            <a:ext cx="6016752" cy="347472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0" y="713232"/>
            <a:ext cx="5833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EVIDENCE QUALITY — Reliability Ladder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52160" y="1060704"/>
            <a:ext cx="6016752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916168" y="1124712"/>
            <a:ext cx="1143000" cy="502920"/>
          </a:xfrm>
          <a:prstGeom prst="rect">
            <a:avLst/>
          </a:prstGeom>
          <a:solidFill>
            <a:srgbClr val="1DA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16168" y="1197864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04888" y="11247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52"/>
                </a:solidFill>
              </a:rPr>
              <a:t>External, directly obtained by auditor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04888" y="1399032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C80"/>
                </a:solidFill>
              </a:rPr>
              <a:t>e.g. Bank confirmation letter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16168" y="1746504"/>
            <a:ext cx="1143000" cy="502920"/>
          </a:xfrm>
          <a:prstGeom prst="rect">
            <a:avLst/>
          </a:prstGeom>
          <a:solidFill>
            <a:srgbClr val="1D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16168" y="1819656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04888" y="1766923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A2B52"/>
                </a:solidFill>
              </a:rPr>
              <a:t>External, received via </a:t>
            </a:r>
            <a:r>
              <a:rPr lang="en-US" sz="1100" b="1" dirty="0" smtClean="0">
                <a:solidFill>
                  <a:srgbClr val="1A2B52"/>
                </a:solidFill>
              </a:rPr>
              <a:t>third party </a:t>
            </a:r>
            <a:endParaRPr sz="1100" b="1" i="0" dirty="0">
              <a:solidFill>
                <a:srgbClr val="1A2B52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104888" y="2020824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C80"/>
                </a:solidFill>
              </a:rPr>
              <a:t>e.g. Supplier statement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16168" y="2368296"/>
            <a:ext cx="1143000" cy="502920"/>
          </a:xfrm>
          <a:prstGeom prst="rect">
            <a:avLst/>
          </a:prstGeom>
          <a:solidFill>
            <a:srgbClr val="F46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16168" y="2441448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04888" y="2368296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dirty="0" smtClean="0">
                <a:solidFill>
                  <a:srgbClr val="1A2B52"/>
                </a:solidFill>
              </a:rPr>
              <a:t>Auditor Obtained indirectly </a:t>
            </a:r>
            <a:endParaRPr sz="1100" b="1" i="0" dirty="0">
              <a:solidFill>
                <a:srgbClr val="1A2B52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104888" y="2642615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C80"/>
                </a:solidFill>
              </a:rPr>
              <a:t>e.g. Payroll records / contracts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16168" y="2990088"/>
            <a:ext cx="1143000" cy="50292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16168" y="306324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04888" y="2990088"/>
            <a:ext cx="2926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buAutoNum type="arabicPeriod"/>
            </a:pPr>
            <a:r>
              <a:rPr lang="en-US" sz="1100" b="1" dirty="0" smtClean="0">
                <a:solidFill>
                  <a:srgbClr val="1A2B52"/>
                </a:solidFill>
              </a:rPr>
              <a:t>Internal audit </a:t>
            </a:r>
          </a:p>
          <a:p>
            <a:pPr marL="228600" indent="-228600" algn="l">
              <a:buAutoNum type="arabicPeriod"/>
            </a:pPr>
            <a:r>
              <a:rPr lang="en-US" sz="1100" b="1" dirty="0" smtClean="0">
                <a:solidFill>
                  <a:srgbClr val="1A2B52"/>
                </a:solidFill>
              </a:rPr>
              <a:t>Management Generated </a:t>
            </a:r>
            <a:endParaRPr sz="1100" b="1" i="0" dirty="0">
              <a:solidFill>
                <a:srgbClr val="1A2B52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104888" y="3264408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4A5C80"/>
                </a:solidFill>
              </a:rPr>
              <a:t>e.g. Management estimates / budgets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16168" y="3611880"/>
            <a:ext cx="1143000" cy="502920"/>
          </a:xfrm>
          <a:prstGeom prst="rect">
            <a:avLst/>
          </a:prstGeom>
          <a:solidFill>
            <a:srgbClr val="A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16168" y="3685032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LOWEST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04888" y="3611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52"/>
                </a:solidFill>
              </a:rPr>
              <a:t>Oral evidence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04888" y="3886200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C80"/>
                </a:solidFill>
              </a:rPr>
              <a:t>e.g. Discussion with management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52160" y="4416552"/>
            <a:ext cx="6016752" cy="640080"/>
          </a:xfrm>
          <a:prstGeom prst="rect">
            <a:avLst/>
          </a:prstGeom>
          <a:solidFill>
            <a:srgbClr val="E8F0FE"/>
          </a:solidFill>
          <a:ln w="635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89320" y="4443984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C3ABB"/>
                </a:solidFill>
              </a:rPr>
              <a:t>📌 ALWAYS: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4718304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Written &gt; Oral   •   Original &gt; Copy   •   External &gt; Internal
Third-party letters reliable: confirming party has no incentive to lie to auditor.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4A"/>
                </a:solidFill>
              </a:rPr>
              <a:t>AUDIT REPORTS  —  The Decision Tree  +  4-Step Answer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85800"/>
            <a:ext cx="530352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5120640" cy="384048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79552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Is there a problem?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17043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A6"/>
                </a:solidFill>
              </a:rPr>
              <a:t>YES 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17043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C80"/>
                </a:solidFill>
              </a:rPr>
              <a:t>NO → Unmodified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728216"/>
            <a:ext cx="5120640" cy="384048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77393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Is it MATERIAL?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1488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4A"/>
                </a:solidFill>
              </a:rPr>
              <a:t>YES 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488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C80"/>
                </a:solidFill>
              </a:rPr>
              <a:t>NO → Unmodified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706624"/>
            <a:ext cx="5120640" cy="384048"/>
          </a:xfrm>
          <a:prstGeom prst="rect">
            <a:avLst/>
          </a:prstGeom>
          <a:solidFill>
            <a:srgbClr val="F46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75234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Does auditor have SUFFICIENT EVIDENCE?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1272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46D1E"/>
                </a:solidFill>
              </a:rPr>
              <a:t>YES 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1272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C80"/>
                </a:solidFill>
              </a:rPr>
              <a:t>NO → Unmodified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3685032"/>
            <a:ext cx="5120640" cy="384048"/>
          </a:xfrm>
          <a:prstGeom prst="rect">
            <a:avLst/>
          </a:prstGeom>
          <a:solidFill>
            <a:srgbClr val="6C3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" y="373075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Has management MISSTATED the FS?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10565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3ABB"/>
                </a:solidFill>
              </a:rPr>
              <a:t>YES 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1056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C80"/>
                </a:solidFill>
              </a:rPr>
              <a:t>NO → Unmodified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63440"/>
            <a:ext cx="5120640" cy="38404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470916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Is it PERVASIVE?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206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3A3A"/>
                </a:solidFill>
              </a:rPr>
              <a:t>YES → ADVERSE OPINION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1206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46D1E"/>
                </a:solidFill>
              </a:rPr>
              <a:t>NO → QUALIFIED 'except for'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6153912"/>
            <a:ext cx="5303520" cy="5486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6181344"/>
            <a:ext cx="5120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Lack of evidence (not misstatement):  Pervasive → DISCLAIMER  •  Not pervasive → QUALIFIED
Going concern disclosed → Material Uncertainty para (unmodified)  •  Not disclosed → QUALIFIED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685800"/>
            <a:ext cx="6016752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0" y="713232"/>
            <a:ext cx="5833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4A"/>
                </a:solidFill>
              </a:rPr>
              <a:t>4-STEP ANSWER STRUCTURE  (DMTO)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1060704"/>
            <a:ext cx="6016752" cy="347472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52160" y="1060704"/>
            <a:ext cx="41148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52160" y="1088136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1106424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DISCUSS the issue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1426464"/>
            <a:ext cx="6016752" cy="9509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0" y="1463039"/>
            <a:ext cx="5833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What has management done WRONG?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1682495"/>
            <a:ext cx="5833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State the FS impact clearly: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1901952"/>
            <a:ext cx="5833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"Provisions understated, profits overstated by $X"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2121408"/>
            <a:ext cx="5833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00B4A6"/>
                </a:solidFill>
              </a:rPr>
              <a:t>Worth: 1 MARK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52160" y="2414015"/>
            <a:ext cx="6016752" cy="347472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852160" y="2414015"/>
            <a:ext cx="41148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52160" y="2441447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2459735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MATERIALITY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52160" y="2779775"/>
            <a:ext cx="6016752" cy="9509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43600" y="2816351"/>
            <a:ext cx="5833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Calculate: Misstatement ÷ PBT (or total assets)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3035807"/>
            <a:ext cx="5833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State percentage and assessment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3255263"/>
            <a:ext cx="5833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Typical benchmarks: 5% PBT / 1% total assets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3474720"/>
            <a:ext cx="5833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0D1B4A"/>
                </a:solidFill>
              </a:rPr>
              <a:t>Worth: 1 MARK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52160" y="3767328"/>
            <a:ext cx="6016752" cy="347472"/>
          </a:xfrm>
          <a:prstGeom prst="rect">
            <a:avLst/>
          </a:prstGeom>
          <a:solidFill>
            <a:srgbClr val="F46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852160" y="3767328"/>
            <a:ext cx="41148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852160" y="379476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3813048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TYPE of modification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52160" y="4133088"/>
            <a:ext cx="6016752" cy="9509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0" y="4169664"/>
            <a:ext cx="5833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State: Qualified / Adverse / Disclaimer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4389120"/>
            <a:ext cx="5833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State: Misstatement OR lack of evidence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0" y="4608576"/>
            <a:ext cx="5833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Use 'except for' wording if qualified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0" y="4828032"/>
            <a:ext cx="5833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F46D1E"/>
                </a:solidFill>
              </a:rPr>
              <a:t>Worth: 2 MARKS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52160" y="5120640"/>
            <a:ext cx="6016752" cy="347472"/>
          </a:xfrm>
          <a:prstGeom prst="rect">
            <a:avLst/>
          </a:prstGeom>
          <a:solidFill>
            <a:srgbClr val="6C3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852160" y="5120640"/>
            <a:ext cx="41148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852160" y="5148072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60" y="5166359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OTHER report impacts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60" y="5486400"/>
            <a:ext cx="6016752" cy="9509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943600" y="5522976"/>
            <a:ext cx="5833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Basis for Qualified/Adverse Opinion paragraph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0" y="5742432"/>
            <a:ext cx="5833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Location in the report (after opinion)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5961888"/>
            <a:ext cx="5833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52"/>
                </a:solidFill>
              </a:rPr>
              <a:t>KAM section affected? EOM paragraph?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43600" y="6181344"/>
            <a:ext cx="5833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6C3ABB"/>
                </a:solidFill>
              </a:rPr>
              <a:t>Worth: 1 MARK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52160" y="6446520"/>
            <a:ext cx="6016752" cy="27432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943600" y="6464808"/>
            <a:ext cx="5833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3A3A"/>
                </a:solidFill>
              </a:rPr>
              <a:t>❌ NEVER say 'qualified report' — it's the OPINION that's modified, not the report!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4A"/>
                </a:solidFill>
              </a:rPr>
              <a:t>AUDIT REPORT SCENARIOS  •  KEY AUDIT MATTERS (KAM)  —  ISA 701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85800"/>
            <a:ext cx="6583680" cy="347472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71323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71323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Opinion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60704"/>
            <a:ext cx="6583680" cy="475488"/>
          </a:xfrm>
          <a:prstGeom prst="rect">
            <a:avLst/>
          </a:prstGeom>
          <a:solidFill>
            <a:srgbClr val="F8F9FF"/>
          </a:solidFill>
          <a:ln w="381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097280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Provision omitted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1097280"/>
            <a:ext cx="2697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C80"/>
                </a:solidFill>
              </a:rPr>
              <a:t>Material misstatement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1808" y="1097280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3A3A"/>
                </a:solidFill>
              </a:rPr>
              <a:t>Qualified 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6583680" cy="475488"/>
          </a:xfrm>
          <a:prstGeom prst="rect">
            <a:avLst/>
          </a:prstGeom>
          <a:solidFill>
            <a:srgbClr val="EEF2FF"/>
          </a:solidFill>
          <a:ln w="381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1600200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Provision omitted — affects everything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8608" y="1600200"/>
            <a:ext cx="2697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C80"/>
                </a:solidFill>
              </a:rPr>
              <a:t>Material + PERVASIVE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8" y="1600200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3A3A"/>
                </a:solidFill>
              </a:rPr>
              <a:t>ADVERSE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066543"/>
            <a:ext cx="6583680" cy="475488"/>
          </a:xfrm>
          <a:prstGeom prst="rect">
            <a:avLst/>
          </a:prstGeom>
          <a:solidFill>
            <a:srgbClr val="F8F9FF"/>
          </a:solidFill>
          <a:ln w="381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" y="2103120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Inventory can't be counted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8608" y="2103120"/>
            <a:ext cx="2697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C80"/>
                </a:solidFill>
              </a:rPr>
              <a:t>Lack of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2103120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3A3A"/>
                </a:solidFill>
              </a:rPr>
              <a:t>Qualified/Disclaimer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569464"/>
            <a:ext cx="6583680" cy="475488"/>
          </a:xfrm>
          <a:prstGeom prst="rect">
            <a:avLst/>
          </a:prstGeom>
          <a:solidFill>
            <a:srgbClr val="EEF2FF"/>
          </a:solidFill>
          <a:ln w="381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" y="2606040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Going concern, WELL disclosed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8608" y="2606040"/>
            <a:ext cx="2697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C80"/>
                </a:solidFill>
              </a:rPr>
              <a:t>Material uncertainty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8" y="2606040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AA6C"/>
                </a:solidFill>
              </a:rPr>
              <a:t>Unmod + EOM para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072384"/>
            <a:ext cx="6583680" cy="475488"/>
          </a:xfrm>
          <a:prstGeom prst="rect">
            <a:avLst/>
          </a:prstGeom>
          <a:solidFill>
            <a:srgbClr val="F8F9FF"/>
          </a:solidFill>
          <a:ln w="381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" y="3108960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Going concern, POORLY disclosed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8608" y="3108960"/>
            <a:ext cx="2697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C80"/>
                </a:solidFill>
              </a:rPr>
              <a:t>Inadequate disclosure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1808" y="3108960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3A3A"/>
                </a:solidFill>
              </a:rPr>
              <a:t>Qualified 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575304"/>
            <a:ext cx="6583680" cy="475488"/>
          </a:xfrm>
          <a:prstGeom prst="rect">
            <a:avLst/>
          </a:prstGeom>
          <a:solidFill>
            <a:srgbClr val="EEF2FF"/>
          </a:solidFill>
          <a:ln w="381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4048" y="3611880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Contingent liability, WELL disclosed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8608" y="3611880"/>
            <a:ext cx="2697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C80"/>
                </a:solidFill>
              </a:rPr>
              <a:t>Possible loss disclosed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1808" y="3611880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AA6C"/>
                </a:solidFill>
              </a:rPr>
              <a:t>Unmod + EOM para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078224"/>
            <a:ext cx="6583680" cy="475488"/>
          </a:xfrm>
          <a:prstGeom prst="rect">
            <a:avLst/>
          </a:prstGeom>
          <a:solidFill>
            <a:srgbClr val="F8F9FF"/>
          </a:solidFill>
          <a:ln w="381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4048" y="4114800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Contingent liability, NOT disclosed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78608" y="4114800"/>
            <a:ext cx="2697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C80"/>
                </a:solidFill>
              </a:rPr>
              <a:t>Misstatement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21808" y="4114800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3A3A"/>
                </a:solidFill>
              </a:rPr>
              <a:t>Qualified 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581144"/>
            <a:ext cx="6583680" cy="475488"/>
          </a:xfrm>
          <a:prstGeom prst="rect">
            <a:avLst/>
          </a:prstGeom>
          <a:solidFill>
            <a:srgbClr val="EEF2FF"/>
          </a:solidFill>
          <a:ln w="381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4048" y="4617720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Dev costs: criteria not met — mgmt refuses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78608" y="4617720"/>
            <a:ext cx="2697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C80"/>
                </a:solidFill>
              </a:rPr>
              <a:t>Material misstatement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21808" y="4617720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3A3A"/>
                </a:solidFill>
              </a:rPr>
              <a:t>Qualified 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0" y="685800"/>
            <a:ext cx="4736592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23760" y="713232"/>
            <a:ext cx="45537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4A"/>
                </a:solidFill>
              </a:rPr>
              <a:t>KEY AUDIT MATTERS — ISA 701  (Listed companies only)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0" y="1060704"/>
            <a:ext cx="4736592" cy="320040"/>
          </a:xfrm>
          <a:prstGeom prst="rect">
            <a:avLst/>
          </a:prstGeom>
          <a:solidFill>
            <a:srgbClr val="2D3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23760" y="1088136"/>
            <a:ext cx="4553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FACTORS PARTNER CONSIDERS: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1408176"/>
            <a:ext cx="4736592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205472" y="145389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  1. Was matter communicated to TCWG (those charged with governance)?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05472" y="184708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  2. Is it an area of HIGHER ASSESSED RISK of material misstatement?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05472" y="22402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  3. Does it require SIGNIFICANT AUDITOR JUDGEMENT?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05472" y="26334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  4. Did it have SIGNIFICANT EFFECT on the audit approach?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32320" y="3127248"/>
            <a:ext cx="4736592" cy="320040"/>
          </a:xfrm>
          <a:prstGeom prst="rect">
            <a:avLst/>
          </a:prstGeom>
          <a:solidFill>
            <a:srgbClr val="2D3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223760" y="3154680"/>
            <a:ext cx="4553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CONTENTS OF KAM SECTION (3 components):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320" y="3474720"/>
            <a:ext cx="473659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196328" y="3538728"/>
            <a:ext cx="594360" cy="292608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196328" y="3538728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WHAT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36408" y="353872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Description of the issue / risk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96328" y="3931920"/>
            <a:ext cx="594360" cy="292608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196328" y="393192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WHY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36408" y="39319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Why it is of most significance (high risk, high judgement)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96328" y="4325112"/>
            <a:ext cx="594360" cy="292608"/>
          </a:xfrm>
          <a:prstGeom prst="rect">
            <a:avLst/>
          </a:prstGeom>
          <a:solidFill>
            <a:srgbClr val="F46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196328" y="4325112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HOW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36408" y="43251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Overview of procedures adopted + related disclosures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32320" y="4800600"/>
            <a:ext cx="4736592" cy="6858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242048" y="4828032"/>
            <a:ext cx="4535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00"/>
                </a:solidFill>
              </a:rPr>
              <a:t>⚡ COMMON MISTAKE: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42048" y="5102352"/>
            <a:ext cx="45354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Students confuse KAM with MODIFIED OPINION.
KAM = disclosed in an UNMODIFIED report!
It is NOT a criticism — it is a spotlight on complex areas.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4A"/>
                </a:solidFill>
              </a:rPr>
              <a:t>GOING CONCERN  •  SUBSEQUENT EVENTS (IAS 10)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85800"/>
            <a:ext cx="5303520" cy="347472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GOING CONCERN INDICATORS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60704"/>
            <a:ext cx="53035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11556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3A3A"/>
                </a:solidFill>
              </a:rPr>
              <a:t>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15568"/>
            <a:ext cx="4864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Consistent losses / net liability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44475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3A3A"/>
                </a:solidFill>
              </a:rP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44752"/>
            <a:ext cx="4864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Suppliers withdrawing credit terms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773936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3A3A"/>
                </a:solidFill>
              </a:rPr>
              <a:t>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73936"/>
            <a:ext cx="4864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Major overdraft due for renewal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10312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3A3A"/>
                </a:solidFill>
              </a:rP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03120"/>
            <a:ext cx="4864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Major customer / supplier ceasing to trade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43230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3A3A"/>
                </a:solidFill>
              </a:rPr>
              <a:t>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432304"/>
            <a:ext cx="4864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Cash used to pay dividends despite losses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2761487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3A3A"/>
                </a:solidFill>
              </a:rPr>
              <a:t>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761487"/>
            <a:ext cx="4864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Payables paid significantly 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0906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3A3A"/>
                </a:solidFill>
              </a:rPr>
              <a:t>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090672"/>
            <a:ext cx="4864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Legal proceedings / regulatory sanctions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730752"/>
            <a:ext cx="5303520" cy="347472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375818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GOING CONCERN PROCEDURES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105656"/>
            <a:ext cx="5303520" cy="3081528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8" y="41605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160520"/>
            <a:ext cx="4956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Obtain cash flow forecast → assess assumptions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45262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526280"/>
            <a:ext cx="4956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Perform sensitivity analysis on forecast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48920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892040"/>
            <a:ext cx="4956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Evaluate management's plans → feasibility?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5257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257800"/>
            <a:ext cx="4956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Review post-YE sales and order 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5623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623560"/>
            <a:ext cx="4956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Review bank correspondence → overdraft renewal?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5989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989320"/>
            <a:ext cx="4956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Review covenants → any breaches?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63550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355080"/>
            <a:ext cx="4956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Review post-YE board minutes → further issues?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67208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A"/>
                </a:solidFill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720840"/>
            <a:ext cx="4956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52"/>
                </a:solidFill>
              </a:rPr>
              <a:t>Obtain written representation → GC basis appropriate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52160" y="685800"/>
            <a:ext cx="6016752" cy="347472"/>
          </a:xfrm>
          <a:prstGeom prst="rect">
            <a:avLst/>
          </a:prstGeom>
          <a:solidFill>
            <a:srgbClr val="F46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43600" y="713232"/>
            <a:ext cx="5833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SUBSEQUENT EVENTS — IAS 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52160" y="1060704"/>
            <a:ext cx="6016752" cy="347472"/>
          </a:xfrm>
          <a:prstGeom prst="rect">
            <a:avLst/>
          </a:prstGeom>
          <a:solidFill>
            <a:srgbClr val="1DA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43600" y="1088136"/>
            <a:ext cx="5833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ADJUSTING EVENT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52160" y="1435607"/>
            <a:ext cx="6016752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943600" y="1499616"/>
            <a:ext cx="5833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A2B52"/>
                </a:solidFill>
              </a:rPr>
              <a:t>Condition EXISTED at year end (event provides more evidence)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52160" y="1883664"/>
            <a:ext cx="6016752" cy="274320"/>
          </a:xfrm>
          <a:prstGeom prst="rect">
            <a:avLst/>
          </a:prstGeom>
          <a:solidFill>
            <a:srgbClr val="1DA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43600" y="1911095"/>
            <a:ext cx="5833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→ AMEND the financial statements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2194560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  • Customer goes into administration (couldn't pay at YE)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0" y="2505456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  • Legal case settled (confirms amount owed at YE)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2816352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  • Discovery of fraud that existed at YE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52160" y="3657600"/>
            <a:ext cx="6016752" cy="347472"/>
          </a:xfrm>
          <a:prstGeom prst="rect">
            <a:avLst/>
          </a:prstGeom>
          <a:solidFill>
            <a:srgbClr val="F46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0" y="3685032"/>
            <a:ext cx="5833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NON-ADJUSTING EVENT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52160" y="4032504"/>
            <a:ext cx="6016752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43600" y="4096512"/>
            <a:ext cx="5833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A2B52"/>
                </a:solidFill>
              </a:rPr>
              <a:t>New condition AROSE AFTER year end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52160" y="4480560"/>
            <a:ext cx="6016752" cy="274320"/>
          </a:xfrm>
          <a:prstGeom prst="rect">
            <a:avLst/>
          </a:prstGeom>
          <a:solidFill>
            <a:srgbClr val="F46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43600" y="4507992"/>
            <a:ext cx="5833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→ DISCLOSE if material (do not amend)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4791456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  • Fire / flood after year end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0" y="5102352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  • New major acquisition post-YE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0" y="5413248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  • Change in tax rates post-YE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0" y="5724144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52"/>
                </a:solidFill>
              </a:rPr>
              <a:t>  • Major decline in asset values after YE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⚡ COMMON MISTAKES &amp; EXAMINER PET HATES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5669280" cy="105156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713232"/>
            <a:ext cx="5669280" cy="347472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7406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❌  'Verify the balance'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0972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HOW? Name the source document and the method.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713232"/>
            <a:ext cx="5669280" cy="105156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713232"/>
            <a:ext cx="5669280" cy="347472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79" y="7406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❌  'Review disclosures'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79" y="10972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In accordance with WHAT standard? E.g. IAS 2, IAS 37, IAS 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856232"/>
            <a:ext cx="5669280" cy="105156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1856232"/>
            <a:ext cx="5669280" cy="347472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79" y="18836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❌  'Obtain written representation'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22402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For WHAT exactly? State the specific item.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856232"/>
            <a:ext cx="5669280" cy="105156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1856232"/>
            <a:ext cx="5669280" cy="347472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79" y="18836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❌  Testing EXISTENCE when question asks 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79" y="22402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These are completely different assertions with different procedures!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999232"/>
            <a:ext cx="5669280" cy="105156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2999232"/>
            <a:ext cx="5669280" cy="347472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79" y="30266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❌  Writing WIP procedures for a RETAILER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33832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Retailers don't manufacture — no WIP. You'll get zero marks.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999232"/>
            <a:ext cx="5669280" cy="105156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2999232"/>
            <a:ext cx="5669280" cy="347472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79" y="30266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❌  Doing a circularisation when the scenario says it won't be done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79" y="33832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Read the scenario carefully! 0 marks for a banned procedure.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142232"/>
            <a:ext cx="5669280" cy="105156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4142232"/>
            <a:ext cx="5669280" cy="347472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79" y="41696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❌  'Qualified REPORT'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45262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It's the OPINION that's modified — not the report!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142232"/>
            <a:ext cx="5669280" cy="105156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63640" y="4142232"/>
            <a:ext cx="5669280" cy="34747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55079" y="41696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❌  Compare to prior year without investigating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79" y="45262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'Compare to prior year' alone = ½ mark. Always add: and investigate differences with management.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285232"/>
            <a:ext cx="5669280" cy="105156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0040" y="5285232"/>
            <a:ext cx="5669280" cy="34747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1479" y="53126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❌  Writing lawyers for REDUNDANCY provisions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79" y="56692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It's not a legal claim. Contact HR records, employment contracts instead.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5285232"/>
            <a:ext cx="5669280" cy="105156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63640" y="5285232"/>
            <a:ext cx="5669280" cy="34747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55079" y="53126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❌  Comparing redundancy to prior year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79" y="56692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One-off event — prior year comparison is useless!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⚡ LAST-DAY RAPID RECAP — The 10 Things That Earn You Marks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31520"/>
            <a:ext cx="5669280" cy="1005840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411480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4A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868680"/>
            <a:ext cx="51023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Name the SOURCE DOCUMENT in every procedure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731520"/>
            <a:ext cx="5669280" cy="1005840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731520"/>
            <a:ext cx="411480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98755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4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7" y="868680"/>
            <a:ext cx="51023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State the PURPOSE — why is the auditor performing this?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828800"/>
            <a:ext cx="5669280" cy="1005840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1828800"/>
            <a:ext cx="411480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08483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4A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1965960"/>
            <a:ext cx="51023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Link to the ASSERTION being tested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828800"/>
            <a:ext cx="5669280" cy="1005840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1828800"/>
            <a:ext cx="411480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208483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4A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7" y="1965960"/>
            <a:ext cx="51023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Never say 'check' — use: Inspect / Agree / Trace / Recalculate / Compare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926080"/>
            <a:ext cx="5669280" cy="1005840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2926080"/>
            <a:ext cx="411480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318211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4A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3063240"/>
            <a:ext cx="51023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For VALUATION: cost evidence AND NRV 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926080"/>
            <a:ext cx="5669280" cy="1005840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2926080"/>
            <a:ext cx="411480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318211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4A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9127" y="3063240"/>
            <a:ext cx="51023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For COMPLETENESS: always start OUTSIDE the accounting system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023359"/>
            <a:ext cx="5669280" cy="1005840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4023359"/>
            <a:ext cx="411480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427939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4A"/>
                </a:solidFill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" y="4160520"/>
            <a:ext cx="51023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For LEGAL provisions: always contact the lawyers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023359"/>
            <a:ext cx="5669280" cy="1005840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63640" y="4023359"/>
            <a:ext cx="411480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63640" y="427939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4A"/>
                </a:solidFill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39127" y="4160520"/>
            <a:ext cx="51023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For REDUNDANCY: never contact lawyers; never compare to prior year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120640"/>
            <a:ext cx="5669280" cy="1005840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0040" y="5120640"/>
            <a:ext cx="411480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0040" y="537667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4A"/>
                </a:solidFill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" y="5257800"/>
            <a:ext cx="51023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Analytical procedures: always 'investigate significant differences with management'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5120640"/>
            <a:ext cx="5669280" cy="1005840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63640" y="5120640"/>
            <a:ext cx="411480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63640" y="537667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4A"/>
                </a:solidFill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39127" y="5257800"/>
            <a:ext cx="51023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Audit reports: always calculate MATERIALITY, state opinion precisely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6355080"/>
            <a:ext cx="11521440" cy="685800"/>
          </a:xfrm>
          <a:prstGeom prst="rect">
            <a:avLst/>
          </a:prstGeom>
          <a:solidFill>
            <a:srgbClr val="2D3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" y="63825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🧠 MEMORY TRICKS: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40280" y="6382512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COVERPAC (assertions)  •  PIRATE (dev costs)  •  DMTO (audit reports)  •  B-D-F (inventory count)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40280" y="6647688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BBCC"/>
                </a:solidFill>
              </a:rPr>
              <a:t>Action + Source + Purpose  •  Completeness = outside → in  •  Existence = inside → 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3435</Words>
  <Application>Microsoft Office PowerPoint</Application>
  <PresentationFormat>Custom</PresentationFormat>
  <Paragraphs>688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2026-05-18T02:53:12Z</dcterms:modified>
  <cp:category/>
</cp:coreProperties>
</file>